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.fntdata"/><Relationship Id="rId14" Type="http://schemas.openxmlformats.org/officeDocument/2006/relationships/slide" Target="slides/slide9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6f2ea1da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6f2ea1da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f2ea1da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f2ea1da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705396d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705396d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abe5f0d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abe5f0d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it was needed to explain what an IP is, and what a listener node is. I found it hard to properly do it to a non-technical audience, without starting to talk </a:t>
            </a:r>
            <a:r>
              <a:rPr lang="en"/>
              <a:t>about</a:t>
            </a:r>
            <a:r>
              <a:rPr lang="en"/>
              <a:t> networking. I think the analogy with house addresses is pretty good. Someone mentioned Bluetooth - I’ve never heard about Bitcoin over Bluetooth, but it would be a cool thing.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0964e93f3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0964e93f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964e93f3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0964e93f3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0964e93f3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40964e93f3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split. Someone asked what is immutability. Someone also mentioned that it’s not physical.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0964e93f3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0964e93f3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0964e93f3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0964e93f3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0964e93f3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0964e93f3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0964e93f3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0964e93f3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7abe5f0d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7abe5f0d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705396d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705396d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964e93f3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964e93f3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abe5f0d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7abe5f0d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64e93f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0964e93f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0964e93f3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0964e93f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6f2ea1da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6f2ea1da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964e93f3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0964e93f3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0964e93f3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0964e93f3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40964e93f3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40964e93f3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seed.bitcoin.sipa.be" TargetMode="External"/><Relationship Id="rId4" Type="http://schemas.openxmlformats.org/officeDocument/2006/relationships/hyperlink" Target="http://dnsseed.bluematt.m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lightninglabs/neutrino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5709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Sovereign Bitcoiner #03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910600"/>
            <a:ext cx="7688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Underneath the consensus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P2P protocol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am I?</a:t>
            </a:r>
            <a:endParaRPr/>
          </a:p>
        </p:txBody>
      </p:sp>
      <p:pic>
        <p:nvPicPr>
          <p:cNvPr id="93" name="Google Shape;93;p14" title="Glider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48" y="2199500"/>
            <a:ext cx="1578300" cy="15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title="sovere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823" y="771550"/>
            <a:ext cx="2880349" cy="36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6380175" y="902925"/>
            <a:ext cx="225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Independence. Be the monarch of your life.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 title="mi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9502" y="699675"/>
            <a:ext cx="5445000" cy="409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 flipH="1">
            <a:off x="260100" y="1770400"/>
            <a:ext cx="1589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Last time: miners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find peers?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815525" y="2165675"/>
            <a:ext cx="6624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Ask the audience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find peers?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815525" y="2165675"/>
            <a:ext cx="66243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Each peer has an IP:port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DNS seed bootstrapping: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E.g. </a:t>
            </a:r>
            <a:r>
              <a:rPr lang="en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seed.bitcoin.sipa.be</a:t>
            </a:r>
            <a:r>
              <a:rPr lang="en" sz="1100"/>
              <a:t>, </a:t>
            </a:r>
            <a:r>
              <a:rPr lang="en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dnsseed.bluematt.me</a:t>
            </a:r>
            <a:endParaRPr sz="11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Hardcoded seed nodes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Addresses stored in a previous session (peers.dat)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Gossip with other peers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Manually adding a node’s address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Peers connecting to you after they have learned your address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node addresses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815525" y="2165675"/>
            <a:ext cx="66243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IPv4/IPv6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I2P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Yggdrassil (very unpopular)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Bitcoin</a:t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5086050" y="4696050"/>
            <a:ext cx="386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Hint: Mastering Bitcoin book, chapter 14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4922925" y="2401750"/>
            <a:ext cx="3411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1008700" y="2401750"/>
            <a:ext cx="3519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Ask the audience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Bitcoin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1008700" y="2401750"/>
            <a:ext cx="3519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Accounting/correctness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 double spend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Authorization/ownership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Integrity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Neutrality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Predictable issuance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Secure timestamping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Nonexpiration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Discrete units of value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Timelocking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Forgery protection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5007150" y="4678500"/>
            <a:ext cx="386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Hint: Mastering Bitcoin book, chapter 14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5007150" y="2401750"/>
            <a:ext cx="3411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 double spend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Immutability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Replication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Censorship resistance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Consistency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Trust minimization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Global access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Pseudonimity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1666825" y="1970650"/>
            <a:ext cx="1244700" cy="431100"/>
          </a:xfrm>
          <a:prstGeom prst="rect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51C75"/>
                </a:solidFill>
                <a:latin typeface="Lato"/>
                <a:ea typeface="Lato"/>
                <a:cs typeface="Lato"/>
                <a:sym typeface="Lato"/>
              </a:rPr>
              <a:t>Consensus</a:t>
            </a:r>
            <a:endParaRPr sz="1600">
              <a:solidFill>
                <a:srgbClr val="351C7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5546300" y="1970650"/>
            <a:ext cx="1593000" cy="431100"/>
          </a:xfrm>
          <a:prstGeom prst="rect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Non-c</a:t>
            </a:r>
            <a:r>
              <a:rPr lang="en" sz="1600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onsensus</a:t>
            </a:r>
            <a:endParaRPr sz="1600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/>
        </p:nvSpPr>
        <p:spPr>
          <a:xfrm>
            <a:off x="815525" y="2165675"/>
            <a:ext cx="6624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 double spend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Immutability (blocks can’t be modified)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Replication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Censorship resistance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Blocks can’t be reordered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Trust minimization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Global access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Pseudonimity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Ensured by the network and economical incentives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Byzantine Generals Problem </a:t>
            </a:r>
            <a:endParaRPr/>
          </a:p>
        </p:txBody>
      </p:sp>
      <p:pic>
        <p:nvPicPr>
          <p:cNvPr id="153" name="Google Shape;153;p23" title="byzantine_fail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938" y="2120250"/>
            <a:ext cx="6003726" cy="26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4" title="blocks_fix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548" y="2224550"/>
            <a:ext cx="960900" cy="20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 title="p2p_no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724" y="2177625"/>
            <a:ext cx="4242575" cy="257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 nodes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in a node?</a:t>
            </a:r>
            <a:endParaRPr/>
          </a:p>
        </p:txBody>
      </p:sp>
      <p:pic>
        <p:nvPicPr>
          <p:cNvPr id="170" name="Google Shape;170;p26" title="node_stor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199" y="1885550"/>
            <a:ext cx="5622099" cy="28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nodes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Full archival nodes (hold everything)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Pruned nodes (hold the last n blocks) - can be used by miners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Light client/SPV node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Any of them could be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Wallet/no wallet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Listening/non-listening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 of a true light node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a peer with enough mining power: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Coins out of thin air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Double spends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Transactions signed with the wrong key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Less private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 light node mitigate the risks?</a:t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Neutrino</a:t>
            </a:r>
            <a:r>
              <a:rPr lang="en" sz="1800"/>
              <a:t>: GetUtxo - follows the chain of utxos backwards</a:t>
            </a:r>
            <a:endParaRPr sz="1800"/>
          </a:p>
          <a:p>
            <a:pPr indent="-31718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Electrum: back it up by a node</a:t>
            </a:r>
            <a:endParaRPr sz="1800"/>
          </a:p>
          <a:p>
            <a:pPr indent="-31718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Compact block filters (BIP-157/BIP-158)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Bitcoin node -&gt; Electrum server -&gt; wallet (that connects to the server)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Compact block filters (BIP-157/BIP-158)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One filter: </a:t>
            </a:r>
            <a:r>
              <a:rPr lang="en" sz="1800"/>
              <a:t>15–25 KB per block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Ask the audience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Utreexo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Similar to how light clients use Electrum server, Utreexo relies on Esplora nodes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stores UTXOs differently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https://telaviv2019.bitcoinedge.org/files/utreexo.pdf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P2P messages</a:t>
            </a:r>
            <a:endParaRPr/>
          </a:p>
        </p:txBody>
      </p:sp>
      <p:pic>
        <p:nvPicPr>
          <p:cNvPr id="206" name="Google Shape;206;p32" title="p2p_mess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425" y="2039775"/>
            <a:ext cx="6259140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2"/>
          <p:cNvSpPr txBox="1"/>
          <p:nvPr/>
        </p:nvSpPr>
        <p:spPr>
          <a:xfrm>
            <a:off x="297300" y="4828725"/>
            <a:ext cx="526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https://developer.bitcoin.org/reference/p2p_networking.html</a:t>
            </a:r>
            <a:endParaRPr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P2P messages</a:t>
            </a:r>
            <a:endParaRPr/>
          </a:p>
        </p:txBody>
      </p:sp>
      <p:pic>
        <p:nvPicPr>
          <p:cNvPr id="213" name="Google Shape;213;p33" title="p2p_mess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175" y="2515875"/>
            <a:ext cx="7921625" cy="147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3"/>
          <p:cNvSpPr txBox="1"/>
          <p:nvPr/>
        </p:nvSpPr>
        <p:spPr>
          <a:xfrm>
            <a:off x="297300" y="4828725"/>
            <a:ext cx="526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https://developer.bitcoin.org/reference/p2p_networking.html</a:t>
            </a:r>
            <a:endParaRPr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Censorship resistance</a:t>
            </a:r>
            <a:endParaRPr/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P2P messages are sent unencrypted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internet provider knows you are running a Bitcoin node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BIP-324 adds encryption (also called v2)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